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5"/>
  </p:notesMasterIdLst>
  <p:sldIdLst>
    <p:sldId id="290" r:id="rId2"/>
    <p:sldId id="291" r:id="rId3"/>
    <p:sldId id="292" r:id="rId4"/>
    <p:sldId id="310" r:id="rId5"/>
    <p:sldId id="293" r:id="rId6"/>
    <p:sldId id="311" r:id="rId7"/>
    <p:sldId id="294" r:id="rId8"/>
    <p:sldId id="295" r:id="rId9"/>
    <p:sldId id="296" r:id="rId10"/>
    <p:sldId id="298" r:id="rId11"/>
    <p:sldId id="299" r:id="rId12"/>
    <p:sldId id="312" r:id="rId13"/>
    <p:sldId id="300" r:id="rId14"/>
    <p:sldId id="301" r:id="rId15"/>
    <p:sldId id="302" r:id="rId16"/>
    <p:sldId id="303" r:id="rId17"/>
    <p:sldId id="304" r:id="rId18"/>
    <p:sldId id="313" r:id="rId19"/>
    <p:sldId id="305" r:id="rId20"/>
    <p:sldId id="306" r:id="rId21"/>
    <p:sldId id="307" r:id="rId22"/>
    <p:sldId id="308" r:id="rId23"/>
    <p:sldId id="309"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372665-B22C-45EF-A8B6-F3EC9AF337DE}" v="3" dt="2026-08-04T21:08:09.23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vamsirsath582@outlook.com" userId="607f31643d24d98d" providerId="LiveId" clId="{6EACD648-A7F0-4A05-862B-9C9AE8ABF200}"/>
    <pc:docChg chg="undo custSel modSld">
      <pc:chgData name="shivamsirsath582@outlook.com" userId="607f31643d24d98d" providerId="LiveId" clId="{6EACD648-A7F0-4A05-862B-9C9AE8ABF200}" dt="2026-08-04T21:14:26.201" v="108" actId="255"/>
      <pc:docMkLst>
        <pc:docMk/>
      </pc:docMkLst>
      <pc:sldChg chg="delSp modSp mod">
        <pc:chgData name="shivamsirsath582@outlook.com" userId="607f31643d24d98d" providerId="LiveId" clId="{6EACD648-A7F0-4A05-862B-9C9AE8ABF200}" dt="2026-08-04T19:18:48.682" v="25" actId="478"/>
        <pc:sldMkLst>
          <pc:docMk/>
          <pc:sldMk cId="952317876" sldId="291"/>
        </pc:sldMkLst>
        <pc:spChg chg="del mod">
          <ac:chgData name="shivamsirsath582@outlook.com" userId="607f31643d24d98d" providerId="LiveId" clId="{6EACD648-A7F0-4A05-862B-9C9AE8ABF200}" dt="2026-08-04T19:18:48.682" v="25" actId="478"/>
          <ac:spMkLst>
            <pc:docMk/>
            <pc:sldMk cId="952317876" sldId="291"/>
            <ac:spMk id="3" creationId="{B0B023FA-CFEB-ACE9-8425-7E72E307CDC5}"/>
          </ac:spMkLst>
        </pc:spChg>
      </pc:sldChg>
      <pc:sldChg chg="modSp mod">
        <pc:chgData name="shivamsirsath582@outlook.com" userId="607f31643d24d98d" providerId="LiveId" clId="{6EACD648-A7F0-4A05-862B-9C9AE8ABF200}" dt="2026-08-04T21:14:26.201" v="108" actId="255"/>
        <pc:sldMkLst>
          <pc:docMk/>
          <pc:sldMk cId="261653373" sldId="292"/>
        </pc:sldMkLst>
        <pc:spChg chg="mod">
          <ac:chgData name="shivamsirsath582@outlook.com" userId="607f31643d24d98d" providerId="LiveId" clId="{6EACD648-A7F0-4A05-862B-9C9AE8ABF200}" dt="2026-08-04T21:14:26.201" v="108" actId="255"/>
          <ac:spMkLst>
            <pc:docMk/>
            <pc:sldMk cId="261653373" sldId="292"/>
            <ac:spMk id="3" creationId="{3847FA31-EA47-D27A-9D69-AF50A3080AEC}"/>
          </ac:spMkLst>
        </pc:spChg>
      </pc:sldChg>
      <pc:sldChg chg="modSp mod">
        <pc:chgData name="shivamsirsath582@outlook.com" userId="607f31643d24d98d" providerId="LiveId" clId="{6EACD648-A7F0-4A05-862B-9C9AE8ABF200}" dt="2026-08-04T21:14:10.440" v="107" actId="255"/>
        <pc:sldMkLst>
          <pc:docMk/>
          <pc:sldMk cId="619459906" sldId="293"/>
        </pc:sldMkLst>
        <pc:spChg chg="mod">
          <ac:chgData name="shivamsirsath582@outlook.com" userId="607f31643d24d98d" providerId="LiveId" clId="{6EACD648-A7F0-4A05-862B-9C9AE8ABF200}" dt="2026-08-04T21:13:52.169" v="105" actId="255"/>
          <ac:spMkLst>
            <pc:docMk/>
            <pc:sldMk cId="619459906" sldId="293"/>
            <ac:spMk id="2" creationId="{4A1BF701-ABCA-4DF0-8330-B6AF71EF8E39}"/>
          </ac:spMkLst>
        </pc:spChg>
        <pc:spChg chg="mod">
          <ac:chgData name="shivamsirsath582@outlook.com" userId="607f31643d24d98d" providerId="LiveId" clId="{6EACD648-A7F0-4A05-862B-9C9AE8ABF200}" dt="2026-08-04T21:14:10.440" v="107" actId="255"/>
          <ac:spMkLst>
            <pc:docMk/>
            <pc:sldMk cId="619459906" sldId="293"/>
            <ac:spMk id="3" creationId="{527F30CC-07EF-8FCC-DA00-C9212F5DAECE}"/>
          </ac:spMkLst>
        </pc:spChg>
      </pc:sldChg>
      <pc:sldChg chg="modSp mod">
        <pc:chgData name="shivamsirsath582@outlook.com" userId="607f31643d24d98d" providerId="LiveId" clId="{6EACD648-A7F0-4A05-862B-9C9AE8ABF200}" dt="2026-08-04T21:12:36.613" v="97" actId="20577"/>
        <pc:sldMkLst>
          <pc:docMk/>
          <pc:sldMk cId="443603904" sldId="294"/>
        </pc:sldMkLst>
        <pc:spChg chg="mod">
          <ac:chgData name="shivamsirsath582@outlook.com" userId="607f31643d24d98d" providerId="LiveId" clId="{6EACD648-A7F0-4A05-862B-9C9AE8ABF200}" dt="2026-08-04T21:12:25.011" v="93" actId="255"/>
          <ac:spMkLst>
            <pc:docMk/>
            <pc:sldMk cId="443603904" sldId="294"/>
            <ac:spMk id="2" creationId="{151FBD4A-3273-E454-091D-D5B0678FC299}"/>
          </ac:spMkLst>
        </pc:spChg>
        <pc:spChg chg="mod">
          <ac:chgData name="shivamsirsath582@outlook.com" userId="607f31643d24d98d" providerId="LiveId" clId="{6EACD648-A7F0-4A05-862B-9C9AE8ABF200}" dt="2026-08-04T21:12:36.613" v="97" actId="20577"/>
          <ac:spMkLst>
            <pc:docMk/>
            <pc:sldMk cId="443603904" sldId="294"/>
            <ac:spMk id="3" creationId="{4A7608B5-9906-EFCF-959A-E89FC2E3EE19}"/>
          </ac:spMkLst>
        </pc:spChg>
      </pc:sldChg>
      <pc:sldChg chg="modSp mod">
        <pc:chgData name="shivamsirsath582@outlook.com" userId="607f31643d24d98d" providerId="LiveId" clId="{6EACD648-A7F0-4A05-862B-9C9AE8ABF200}" dt="2026-08-04T21:12:14.590" v="92" actId="255"/>
        <pc:sldMkLst>
          <pc:docMk/>
          <pc:sldMk cId="3114963633" sldId="295"/>
        </pc:sldMkLst>
        <pc:spChg chg="mod">
          <ac:chgData name="shivamsirsath582@outlook.com" userId="607f31643d24d98d" providerId="LiveId" clId="{6EACD648-A7F0-4A05-862B-9C9AE8ABF200}" dt="2026-08-04T21:12:14.590" v="92" actId="255"/>
          <ac:spMkLst>
            <pc:docMk/>
            <pc:sldMk cId="3114963633" sldId="295"/>
            <ac:spMk id="135" creationId="{2A145802-2DD3-EEBA-7D44-210C05B98C91}"/>
          </ac:spMkLst>
        </pc:spChg>
      </pc:sldChg>
      <pc:sldChg chg="modSp mod">
        <pc:chgData name="shivamsirsath582@outlook.com" userId="607f31643d24d98d" providerId="LiveId" clId="{6EACD648-A7F0-4A05-862B-9C9AE8ABF200}" dt="2026-08-04T21:12:04.465" v="91" actId="255"/>
        <pc:sldMkLst>
          <pc:docMk/>
          <pc:sldMk cId="1316545553" sldId="296"/>
        </pc:sldMkLst>
        <pc:spChg chg="mod">
          <ac:chgData name="shivamsirsath582@outlook.com" userId="607f31643d24d98d" providerId="LiveId" clId="{6EACD648-A7F0-4A05-862B-9C9AE8ABF200}" dt="2026-08-04T21:12:04.465" v="91" actId="255"/>
          <ac:spMkLst>
            <pc:docMk/>
            <pc:sldMk cId="1316545553" sldId="296"/>
            <ac:spMk id="2" creationId="{B64CF172-D2AF-03D8-F919-AA7827A0D969}"/>
          </ac:spMkLst>
        </pc:spChg>
      </pc:sldChg>
      <pc:sldChg chg="modSp mod">
        <pc:chgData name="shivamsirsath582@outlook.com" userId="607f31643d24d98d" providerId="LiveId" clId="{6EACD648-A7F0-4A05-862B-9C9AE8ABF200}" dt="2026-08-04T21:11:52.212" v="89" actId="255"/>
        <pc:sldMkLst>
          <pc:docMk/>
          <pc:sldMk cId="445195169" sldId="298"/>
        </pc:sldMkLst>
        <pc:spChg chg="mod">
          <ac:chgData name="shivamsirsath582@outlook.com" userId="607f31643d24d98d" providerId="LiveId" clId="{6EACD648-A7F0-4A05-862B-9C9AE8ABF200}" dt="2026-08-04T21:11:52.212" v="89" actId="255"/>
          <ac:spMkLst>
            <pc:docMk/>
            <pc:sldMk cId="445195169" sldId="298"/>
            <ac:spMk id="2" creationId="{78578745-3233-E2C4-2AF4-55BA57C68D3F}"/>
          </ac:spMkLst>
        </pc:spChg>
      </pc:sldChg>
      <pc:sldChg chg="modSp mod">
        <pc:chgData name="shivamsirsath582@outlook.com" userId="607f31643d24d98d" providerId="LiveId" clId="{6EACD648-A7F0-4A05-862B-9C9AE8ABF200}" dt="2026-08-04T21:11:31.073" v="76" actId="255"/>
        <pc:sldMkLst>
          <pc:docMk/>
          <pc:sldMk cId="4000696967" sldId="299"/>
        </pc:sldMkLst>
        <pc:spChg chg="mod">
          <ac:chgData name="shivamsirsath582@outlook.com" userId="607f31643d24d98d" providerId="LiveId" clId="{6EACD648-A7F0-4A05-862B-9C9AE8ABF200}" dt="2026-08-04T21:11:31.073" v="76" actId="255"/>
          <ac:spMkLst>
            <pc:docMk/>
            <pc:sldMk cId="4000696967" sldId="299"/>
            <ac:spMk id="2" creationId="{B84A7B44-8B20-5A39-ED43-DA98D0FC7976}"/>
          </ac:spMkLst>
        </pc:spChg>
        <pc:spChg chg="mod">
          <ac:chgData name="shivamsirsath582@outlook.com" userId="607f31643d24d98d" providerId="LiveId" clId="{6EACD648-A7F0-4A05-862B-9C9AE8ABF200}" dt="2026-08-04T21:11:19.160" v="75" actId="20577"/>
          <ac:spMkLst>
            <pc:docMk/>
            <pc:sldMk cId="4000696967" sldId="299"/>
            <ac:spMk id="3" creationId="{322462E8-EB3A-DA7D-44CB-4E757803A755}"/>
          </ac:spMkLst>
        </pc:spChg>
      </pc:sldChg>
      <pc:sldChg chg="modSp mod">
        <pc:chgData name="shivamsirsath582@outlook.com" userId="607f31643d24d98d" providerId="LiveId" clId="{6EACD648-A7F0-4A05-862B-9C9AE8ABF200}" dt="2026-08-04T21:09:56.621" v="58" actId="255"/>
        <pc:sldMkLst>
          <pc:docMk/>
          <pc:sldMk cId="893417001" sldId="300"/>
        </pc:sldMkLst>
        <pc:spChg chg="mod">
          <ac:chgData name="shivamsirsath582@outlook.com" userId="607f31643d24d98d" providerId="LiveId" clId="{6EACD648-A7F0-4A05-862B-9C9AE8ABF200}" dt="2026-08-04T21:09:56.621" v="58" actId="255"/>
          <ac:spMkLst>
            <pc:docMk/>
            <pc:sldMk cId="893417001" sldId="300"/>
            <ac:spMk id="278" creationId="{D62F03A8-A8A8-CB93-006E-7173DC866F6F}"/>
          </ac:spMkLst>
        </pc:spChg>
      </pc:sldChg>
      <pc:sldChg chg="modSp mod">
        <pc:chgData name="shivamsirsath582@outlook.com" userId="607f31643d24d98d" providerId="LiveId" clId="{6EACD648-A7F0-4A05-862B-9C9AE8ABF200}" dt="2026-08-04T21:08:55.478" v="51" actId="255"/>
        <pc:sldMkLst>
          <pc:docMk/>
          <pc:sldMk cId="1429961814" sldId="301"/>
        </pc:sldMkLst>
        <pc:spChg chg="mod">
          <ac:chgData name="shivamsirsath582@outlook.com" userId="607f31643d24d98d" providerId="LiveId" clId="{6EACD648-A7F0-4A05-862B-9C9AE8ABF200}" dt="2026-08-04T21:08:55.478" v="51" actId="255"/>
          <ac:spMkLst>
            <pc:docMk/>
            <pc:sldMk cId="1429961814" sldId="301"/>
            <ac:spMk id="278" creationId="{78DA0257-5105-834D-150D-50732C7248D1}"/>
          </ac:spMkLst>
        </pc:spChg>
        <pc:picChg chg="mod">
          <ac:chgData name="shivamsirsath582@outlook.com" userId="607f31643d24d98d" providerId="LiveId" clId="{6EACD648-A7F0-4A05-862B-9C9AE8ABF200}" dt="2026-08-04T21:08:36.174" v="49" actId="1076"/>
          <ac:picMkLst>
            <pc:docMk/>
            <pc:sldMk cId="1429961814" sldId="301"/>
            <ac:picMk id="5" creationId="{49237330-B08B-2CE4-E804-9AF6CF7C1B7A}"/>
          </ac:picMkLst>
        </pc:picChg>
      </pc:sldChg>
      <pc:sldChg chg="addSp delSp modSp mod">
        <pc:chgData name="shivamsirsath582@outlook.com" userId="607f31643d24d98d" providerId="LiveId" clId="{6EACD648-A7F0-4A05-862B-9C9AE8ABF200}" dt="2026-08-04T21:09:15.954" v="54" actId="255"/>
        <pc:sldMkLst>
          <pc:docMk/>
          <pc:sldMk cId="3585092305" sldId="302"/>
        </pc:sldMkLst>
        <pc:spChg chg="mod">
          <ac:chgData name="shivamsirsath582@outlook.com" userId="607f31643d24d98d" providerId="LiveId" clId="{6EACD648-A7F0-4A05-862B-9C9AE8ABF200}" dt="2026-08-04T21:09:15.954" v="54" actId="255"/>
          <ac:spMkLst>
            <pc:docMk/>
            <pc:sldMk cId="3585092305" sldId="302"/>
            <ac:spMk id="278" creationId="{A5DD5E73-E4F8-AB1C-5A5A-D4EBAD6FD1B8}"/>
          </ac:spMkLst>
        </pc:spChg>
        <pc:picChg chg="add mod">
          <ac:chgData name="shivamsirsath582@outlook.com" userId="607f31643d24d98d" providerId="LiveId" clId="{6EACD648-A7F0-4A05-862B-9C9AE8ABF200}" dt="2026-08-04T21:09:08.785" v="53" actId="1076"/>
          <ac:picMkLst>
            <pc:docMk/>
            <pc:sldMk cId="3585092305" sldId="302"/>
            <ac:picMk id="4" creationId="{2BC53853-B5AD-31DD-9FE9-2D97CAC505D9}"/>
          </ac:picMkLst>
        </pc:picChg>
        <pc:picChg chg="del">
          <ac:chgData name="shivamsirsath582@outlook.com" userId="607f31643d24d98d" providerId="LiveId" clId="{6EACD648-A7F0-4A05-862B-9C9AE8ABF200}" dt="2026-08-04T19:15:46.780" v="0" actId="478"/>
          <ac:picMkLst>
            <pc:docMk/>
            <pc:sldMk cId="3585092305" sldId="302"/>
            <ac:picMk id="5" creationId="{146B9DE6-C4BB-B81B-528A-B8789445C3FE}"/>
          </ac:picMkLst>
        </pc:picChg>
      </pc:sldChg>
      <pc:sldChg chg="addSp delSp modSp mod">
        <pc:chgData name="shivamsirsath582@outlook.com" userId="607f31643d24d98d" providerId="LiveId" clId="{6EACD648-A7F0-4A05-862B-9C9AE8ABF200}" dt="2026-08-04T21:09:36.265" v="57" actId="255"/>
        <pc:sldMkLst>
          <pc:docMk/>
          <pc:sldMk cId="2601907186" sldId="303"/>
        </pc:sldMkLst>
        <pc:spChg chg="mod">
          <ac:chgData name="shivamsirsath582@outlook.com" userId="607f31643d24d98d" providerId="LiveId" clId="{6EACD648-A7F0-4A05-862B-9C9AE8ABF200}" dt="2026-08-04T21:09:36.265" v="57" actId="255"/>
          <ac:spMkLst>
            <pc:docMk/>
            <pc:sldMk cId="2601907186" sldId="303"/>
            <ac:spMk id="278" creationId="{67AD5A0A-54A3-BC96-26BB-9C49B61555EC}"/>
          </ac:spMkLst>
        </pc:spChg>
        <pc:picChg chg="del">
          <ac:chgData name="shivamsirsath582@outlook.com" userId="607f31643d24d98d" providerId="LiveId" clId="{6EACD648-A7F0-4A05-862B-9C9AE8ABF200}" dt="2026-08-04T19:16:10.309" v="4" actId="478"/>
          <ac:picMkLst>
            <pc:docMk/>
            <pc:sldMk cId="2601907186" sldId="303"/>
            <ac:picMk id="4" creationId="{BA6C1B5E-405A-0E58-2397-353A88D82B9B}"/>
          </ac:picMkLst>
        </pc:picChg>
        <pc:picChg chg="add del mod">
          <ac:chgData name="shivamsirsath582@outlook.com" userId="607f31643d24d98d" providerId="LiveId" clId="{6EACD648-A7F0-4A05-862B-9C9AE8ABF200}" dt="2026-08-04T19:16:08.708" v="3" actId="478"/>
          <ac:picMkLst>
            <pc:docMk/>
            <pc:sldMk cId="2601907186" sldId="303"/>
            <ac:picMk id="5" creationId="{49647F4F-EDEE-5860-6A03-77680F7503D4}"/>
          </ac:picMkLst>
        </pc:picChg>
        <pc:picChg chg="add mod">
          <ac:chgData name="shivamsirsath582@outlook.com" userId="607f31643d24d98d" providerId="LiveId" clId="{6EACD648-A7F0-4A05-862B-9C9AE8ABF200}" dt="2026-08-04T21:09:29.151" v="56" actId="1076"/>
          <ac:picMkLst>
            <pc:docMk/>
            <pc:sldMk cId="2601907186" sldId="303"/>
            <ac:picMk id="7" creationId="{2674E0F9-583B-BDB0-1542-5B46A862F58C}"/>
          </ac:picMkLst>
        </pc:picChg>
      </pc:sldChg>
      <pc:sldChg chg="modSp mod">
        <pc:chgData name="shivamsirsath582@outlook.com" userId="607f31643d24d98d" providerId="LiveId" clId="{6EACD648-A7F0-4A05-862B-9C9AE8ABF200}" dt="2026-08-04T21:08:17.867" v="47" actId="255"/>
        <pc:sldMkLst>
          <pc:docMk/>
          <pc:sldMk cId="2325282270" sldId="304"/>
        </pc:sldMkLst>
        <pc:spChg chg="mod">
          <ac:chgData name="shivamsirsath582@outlook.com" userId="607f31643d24d98d" providerId="LiveId" clId="{6EACD648-A7F0-4A05-862B-9C9AE8ABF200}" dt="2026-08-04T21:08:17.867" v="47" actId="255"/>
          <ac:spMkLst>
            <pc:docMk/>
            <pc:sldMk cId="2325282270" sldId="304"/>
            <ac:spMk id="2" creationId="{6FA184BA-BCF2-3D7B-30D0-0F3CF30C161B}"/>
          </ac:spMkLst>
        </pc:spChg>
        <pc:spChg chg="mod">
          <ac:chgData name="shivamsirsath582@outlook.com" userId="607f31643d24d98d" providerId="LiveId" clId="{6EACD648-A7F0-4A05-862B-9C9AE8ABF200}" dt="2026-08-04T21:08:09.231" v="46" actId="20578"/>
          <ac:spMkLst>
            <pc:docMk/>
            <pc:sldMk cId="2325282270" sldId="304"/>
            <ac:spMk id="3" creationId="{ED65F54F-855A-0DB6-09A6-3212C5F7405B}"/>
          </ac:spMkLst>
        </pc:spChg>
      </pc:sldChg>
      <pc:sldChg chg="modSp mod">
        <pc:chgData name="shivamsirsath582@outlook.com" userId="607f31643d24d98d" providerId="LiveId" clId="{6EACD648-A7F0-4A05-862B-9C9AE8ABF200}" dt="2026-08-04T21:07:47.645" v="42" actId="255"/>
        <pc:sldMkLst>
          <pc:docMk/>
          <pc:sldMk cId="4040412275" sldId="305"/>
        </pc:sldMkLst>
        <pc:spChg chg="mod">
          <ac:chgData name="shivamsirsath582@outlook.com" userId="607f31643d24d98d" providerId="LiveId" clId="{6EACD648-A7F0-4A05-862B-9C9AE8ABF200}" dt="2026-08-04T21:07:42.199" v="41" actId="255"/>
          <ac:spMkLst>
            <pc:docMk/>
            <pc:sldMk cId="4040412275" sldId="305"/>
            <ac:spMk id="278" creationId="{187EEB9C-2E84-113A-3CE6-1507BF5B039F}"/>
          </ac:spMkLst>
        </pc:spChg>
        <pc:spChg chg="mod">
          <ac:chgData name="shivamsirsath582@outlook.com" userId="607f31643d24d98d" providerId="LiveId" clId="{6EACD648-A7F0-4A05-862B-9C9AE8ABF200}" dt="2026-08-04T21:07:47.645" v="42" actId="255"/>
          <ac:spMkLst>
            <pc:docMk/>
            <pc:sldMk cId="4040412275" sldId="305"/>
            <ac:spMk id="279" creationId="{3711AF54-94A6-B837-31EF-9A8C4ECB9AF6}"/>
          </ac:spMkLst>
        </pc:spChg>
      </pc:sldChg>
      <pc:sldChg chg="modSp mod">
        <pc:chgData name="shivamsirsath582@outlook.com" userId="607f31643d24d98d" providerId="LiveId" clId="{6EACD648-A7F0-4A05-862B-9C9AE8ABF200}" dt="2026-08-04T21:07:21.878" v="40" actId="14100"/>
        <pc:sldMkLst>
          <pc:docMk/>
          <pc:sldMk cId="740028465" sldId="306"/>
        </pc:sldMkLst>
        <pc:spChg chg="mod">
          <ac:chgData name="shivamsirsath582@outlook.com" userId="607f31643d24d98d" providerId="LiveId" clId="{6EACD648-A7F0-4A05-862B-9C9AE8ABF200}" dt="2026-08-04T21:07:00.068" v="39" actId="255"/>
          <ac:spMkLst>
            <pc:docMk/>
            <pc:sldMk cId="740028465" sldId="306"/>
            <ac:spMk id="278" creationId="{0668C6FD-577A-7288-5642-1AFC22BD04F2}"/>
          </ac:spMkLst>
        </pc:spChg>
        <pc:spChg chg="mod">
          <ac:chgData name="shivamsirsath582@outlook.com" userId="607f31643d24d98d" providerId="LiveId" clId="{6EACD648-A7F0-4A05-862B-9C9AE8ABF200}" dt="2026-08-04T21:07:21.878" v="40" actId="14100"/>
          <ac:spMkLst>
            <pc:docMk/>
            <pc:sldMk cId="740028465" sldId="306"/>
            <ac:spMk id="279" creationId="{EAFA16CB-0A72-5AC5-69A0-ABF4A752B43F}"/>
          </ac:spMkLst>
        </pc:spChg>
      </pc:sldChg>
      <pc:sldChg chg="modSp mod">
        <pc:chgData name="shivamsirsath582@outlook.com" userId="607f31643d24d98d" providerId="LiveId" clId="{6EACD648-A7F0-4A05-862B-9C9AE8ABF200}" dt="2026-08-04T21:06:52.159" v="38" actId="255"/>
        <pc:sldMkLst>
          <pc:docMk/>
          <pc:sldMk cId="2833482715" sldId="307"/>
        </pc:sldMkLst>
        <pc:spChg chg="mod">
          <ac:chgData name="shivamsirsath582@outlook.com" userId="607f31643d24d98d" providerId="LiveId" clId="{6EACD648-A7F0-4A05-862B-9C9AE8ABF200}" dt="2026-08-04T21:06:52.159" v="38" actId="255"/>
          <ac:spMkLst>
            <pc:docMk/>
            <pc:sldMk cId="2833482715" sldId="307"/>
            <ac:spMk id="6" creationId="{3F1C7BCA-5DD7-F4D3-A937-D1C56976DA01}"/>
          </ac:spMkLst>
        </pc:spChg>
      </pc:sldChg>
      <pc:sldChg chg="modSp mod">
        <pc:chgData name="shivamsirsath582@outlook.com" userId="607f31643d24d98d" providerId="LiveId" clId="{6EACD648-A7F0-4A05-862B-9C9AE8ABF200}" dt="2026-08-04T21:06:38.718" v="36" actId="2711"/>
        <pc:sldMkLst>
          <pc:docMk/>
          <pc:sldMk cId="4175177701" sldId="308"/>
        </pc:sldMkLst>
        <pc:spChg chg="mod">
          <ac:chgData name="shivamsirsath582@outlook.com" userId="607f31643d24d98d" providerId="LiveId" clId="{6EACD648-A7F0-4A05-862B-9C9AE8ABF200}" dt="2026-08-04T21:06:38.718" v="36" actId="2711"/>
          <ac:spMkLst>
            <pc:docMk/>
            <pc:sldMk cId="4175177701" sldId="308"/>
            <ac:spMk id="5" creationId="{CA8544A9-CF92-3FAF-D3EE-31DF90F7A64D}"/>
          </ac:spMkLst>
        </pc:spChg>
      </pc:sldChg>
      <pc:sldChg chg="modSp mod">
        <pc:chgData name="shivamsirsath582@outlook.com" userId="607f31643d24d98d" providerId="LiveId" clId="{6EACD648-A7F0-4A05-862B-9C9AE8ABF200}" dt="2026-08-04T21:13:56.145" v="106" actId="14100"/>
        <pc:sldMkLst>
          <pc:docMk/>
          <pc:sldMk cId="3696835613" sldId="311"/>
        </pc:sldMkLst>
        <pc:spChg chg="mod">
          <ac:chgData name="shivamsirsath582@outlook.com" userId="607f31643d24d98d" providerId="LiveId" clId="{6EACD648-A7F0-4A05-862B-9C9AE8ABF200}" dt="2026-08-04T21:13:56.145" v="106" actId="14100"/>
          <ac:spMkLst>
            <pc:docMk/>
            <pc:sldMk cId="3696835613" sldId="311"/>
            <ac:spMk id="3" creationId="{2730BAE3-7E45-5E7B-D855-309557B35901}"/>
          </ac:spMkLst>
        </pc:spChg>
      </pc:sldChg>
      <pc:sldChg chg="modSp mod">
        <pc:chgData name="shivamsirsath582@outlook.com" userId="607f31643d24d98d" providerId="LiveId" clId="{6EACD648-A7F0-4A05-862B-9C9AE8ABF200}" dt="2026-08-04T21:10:49.215" v="73" actId="114"/>
        <pc:sldMkLst>
          <pc:docMk/>
          <pc:sldMk cId="2939666458" sldId="312"/>
        </pc:sldMkLst>
        <pc:spChg chg="mod">
          <ac:chgData name="shivamsirsath582@outlook.com" userId="607f31643d24d98d" providerId="LiveId" clId="{6EACD648-A7F0-4A05-862B-9C9AE8ABF200}" dt="2026-08-04T21:10:49.215" v="73" actId="114"/>
          <ac:spMkLst>
            <pc:docMk/>
            <pc:sldMk cId="2939666458" sldId="312"/>
            <ac:spMk id="3" creationId="{4BB7C667-C3D6-2C2F-8F48-C0296FF0B9FF}"/>
          </ac:spMkLst>
        </pc:spChg>
      </pc:sldChg>
      <pc:sldChg chg="modSp mod">
        <pc:chgData name="shivamsirsath582@outlook.com" userId="607f31643d24d98d" providerId="LiveId" clId="{6EACD648-A7F0-4A05-862B-9C9AE8ABF200}" dt="2026-08-04T21:07:58.425" v="44" actId="2711"/>
        <pc:sldMkLst>
          <pc:docMk/>
          <pc:sldMk cId="3454587881" sldId="313"/>
        </pc:sldMkLst>
        <pc:spChg chg="mod">
          <ac:chgData name="shivamsirsath582@outlook.com" userId="607f31643d24d98d" providerId="LiveId" clId="{6EACD648-A7F0-4A05-862B-9C9AE8ABF200}" dt="2026-08-04T21:07:58.425" v="44" actId="2711"/>
          <ac:spMkLst>
            <pc:docMk/>
            <pc:sldMk cId="3454587881" sldId="313"/>
            <ac:spMk id="3" creationId="{32C85A2C-81C6-6F24-0C8D-7BC3C9EFC4C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6" r:id="rId6"/>
    <p:sldLayoutId id="2147483657" r:id="rId7"/>
    <p:sldLayoutId id="2147483658" r:id="rId8"/>
    <p:sldLayoutId id="214748365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842673871"/>
              </p:ext>
            </p:extLst>
          </p:nvPr>
        </p:nvGraphicFramePr>
        <p:xfrm>
          <a:off x="1299257" y="2600315"/>
          <a:ext cx="9037022" cy="2167128"/>
        </p:xfrm>
        <a:graphic>
          <a:graphicData uri="http://schemas.openxmlformats.org/drawingml/2006/table">
            <a:tbl>
              <a:tblPr>
                <a:noFill/>
                <a:tableStyleId>{0AAD8F4D-43EB-41E5-8A38-28AB6DFB1B60}</a:tableStyleId>
              </a:tblPr>
              <a:tblGrid>
                <a:gridCol w="1706900">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sz="2000" dirty="0"/>
                        <a:t>Shreni Mahadik</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dirty="0"/>
                        <a:t>shreni.mahadik25@mmit.edu.in</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sz="2000" dirty="0"/>
                        <a:t>9130192172</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800" b="1" dirty="0"/>
              <a:t>Domain of  Project :– </a:t>
            </a:r>
            <a:r>
              <a:rPr lang="en-US" sz="2800" b="1" dirty="0">
                <a:highlight>
                  <a:srgbClr val="FFFF00"/>
                </a:highlight>
              </a:rPr>
              <a:t>Healthcare</a:t>
            </a:r>
            <a:endParaRPr lang="en-IN" sz="28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954107"/>
          </a:xfrm>
          <a:prstGeom prst="rect">
            <a:avLst/>
          </a:prstGeom>
          <a:noFill/>
        </p:spPr>
        <p:txBody>
          <a:bodyPr wrap="square" rtlCol="0">
            <a:spAutoFit/>
          </a:bodyPr>
          <a:lstStyle/>
          <a:p>
            <a:r>
              <a:rPr lang="en-US" sz="2800" b="1" dirty="0"/>
              <a:t>Project Tile :–  Agentic AI for Mental Health Awareness &amp; Suicide Prevention </a:t>
            </a:r>
            <a:endParaRPr lang="en-IN" sz="2800" b="1" dirty="0">
              <a:highlight>
                <a:srgbClr val="FFFF00"/>
              </a:highlight>
            </a:endParaRPr>
          </a:p>
        </p:txBody>
      </p:sp>
      <p:pic>
        <p:nvPicPr>
          <p:cNvPr id="5" name="Picture 4">
            <a:extLst>
              <a:ext uri="{FF2B5EF4-FFF2-40B4-BE49-F238E27FC236}">
                <a16:creationId xmlns:a16="http://schemas.microsoft.com/office/drawing/2014/main" id="{7D71200E-6D32-1634-606A-1A6C283D6153}"/>
              </a:ext>
            </a:extLst>
          </p:cNvPr>
          <p:cNvPicPr>
            <a:picLocks noChangeAspect="1"/>
          </p:cNvPicPr>
          <p:nvPr/>
        </p:nvPicPr>
        <p:blipFill>
          <a:blip r:embed="rId3"/>
          <a:stretch>
            <a:fillRect/>
          </a:stretch>
        </p:blipFill>
        <p:spPr>
          <a:xfrm>
            <a:off x="3941064" y="3547559"/>
            <a:ext cx="1269073" cy="1219884"/>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632311"/>
          </a:xfrm>
          <a:prstGeom prst="rect">
            <a:avLst/>
          </a:prstGeom>
          <a:noFill/>
        </p:spPr>
        <p:txBody>
          <a:bodyPr wrap="square" rtlCol="0">
            <a:spAutoFit/>
          </a:bodyPr>
          <a:lstStyle/>
          <a:p>
            <a:pPr fontAlgn="base"/>
            <a:r>
              <a:rPr lang="en-US" sz="2000" b="1" dirty="0"/>
              <a:t>Problem Statement : Agentic AI for Mental Health Awareness &amp; Suicide Prevention </a:t>
            </a:r>
          </a:p>
          <a:p>
            <a:pPr fontAlgn="base"/>
            <a:endParaRPr lang="en-US" sz="2000" b="1" dirty="0"/>
          </a:p>
          <a:p>
            <a:pPr fontAlgn="base"/>
            <a:r>
              <a:rPr lang="en-US" sz="2000" b="1" dirty="0"/>
              <a:t>The Challenge</a:t>
            </a:r>
            <a:r>
              <a:rPr lang="en-US" sz="2000" dirty="0"/>
              <a:t> </a:t>
            </a:r>
          </a:p>
          <a:p>
            <a:pPr fontAlgn="base"/>
            <a:r>
              <a:rPr lang="en-US" sz="2000" dirty="0"/>
              <a:t>Mental health issues such as depression, anxiety, and suicidal thoughts are growing worldwide. Stigma, lack of awareness, and limited access to timely help prevent many individuals from seeking support. Traditional systems are often reactive, leaving gaps in early detection and preventive care. </a:t>
            </a:r>
          </a:p>
          <a:p>
            <a:pPr fontAlgn="base"/>
            <a:endParaRPr lang="en-US" sz="2000" b="1" dirty="0"/>
          </a:p>
          <a:p>
            <a:pPr fontAlgn="base"/>
            <a:r>
              <a:rPr lang="en-IN" sz="2000" b="1" dirty="0"/>
              <a:t>The Objective </a:t>
            </a:r>
          </a:p>
          <a:p>
            <a:pPr fontAlgn="base"/>
            <a:r>
              <a:rPr lang="en-US" sz="2000" dirty="0"/>
              <a:t>Build an Agentic AI-powered Mental Health Awareness &amp; Suicide Prevention Agent that is empathetic, proactive, and safe. The solution should:</a:t>
            </a:r>
          </a:p>
          <a:p>
            <a:pPr fontAlgn="base"/>
            <a:r>
              <a:rPr lang="en-US" sz="2000" b="1" dirty="0"/>
              <a:t>1. Promote Awareness &amp; Education </a:t>
            </a:r>
            <a:r>
              <a:rPr lang="en-US" sz="2000" dirty="0"/>
              <a:t>– Share accessible resources on mindfulness, coping strategies, and self-care. </a:t>
            </a:r>
          </a:p>
          <a:p>
            <a:pPr fontAlgn="base"/>
            <a:r>
              <a:rPr lang="en-US" sz="2000" b="1" dirty="0"/>
              <a:t>2. Enable Early Detection (RAG)</a:t>
            </a:r>
            <a:r>
              <a:rPr lang="en-US" sz="2000" dirty="0"/>
              <a:t> – Use Retrieval-Augmented Generation to identify distress signals in conversations, journaling inputs, or safe online data</a:t>
            </a:r>
            <a:r>
              <a:rPr lang="en-US" sz="2000" b="1" dirty="0"/>
              <a:t>. </a:t>
            </a:r>
          </a:p>
          <a:p>
            <a:pPr fontAlgn="base"/>
            <a:r>
              <a:rPr lang="en-US" sz="2000" b="1" dirty="0"/>
              <a:t>3. Provide Empathetic Support </a:t>
            </a:r>
            <a:r>
              <a:rPr lang="en-US" sz="2000" dirty="0"/>
              <a:t>– Build a conversational agent that listens actively and responds with empathy (with clear disclaimers: not a substitute for professional medical advice).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523220"/>
          </a:xfrm>
          <a:prstGeom prst="rect">
            <a:avLst/>
          </a:prstGeom>
          <a:noFill/>
        </p:spPr>
        <p:txBody>
          <a:bodyPr wrap="square" rtlCol="0">
            <a:spAutoFit/>
          </a:bodyPr>
          <a:lstStyle/>
          <a:p>
            <a:r>
              <a:rPr lang="en-US" sz="2800" b="1" dirty="0"/>
              <a:t>Problem Statement -</a:t>
            </a:r>
            <a:endParaRPr lang="en-IN" sz="28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0BFE1-0F4D-0FEB-152A-6B2C634D4D0C}"/>
              </a:ext>
            </a:extLst>
          </p:cNvPr>
          <p:cNvSpPr>
            <a:spLocks noGrp="1"/>
          </p:cNvSpPr>
          <p:nvPr>
            <p:ph type="title"/>
          </p:nvPr>
        </p:nvSpPr>
        <p:spPr>
          <a:xfrm>
            <a:off x="1102360" y="7299960"/>
            <a:ext cx="10515600" cy="1325563"/>
          </a:xfrm>
        </p:spPr>
        <p:txBody>
          <a:bodyPr/>
          <a:lstStyle/>
          <a:p>
            <a:endParaRPr lang="en-IN"/>
          </a:p>
        </p:txBody>
      </p:sp>
      <p:sp>
        <p:nvSpPr>
          <p:cNvPr id="3" name="Text Placeholder 2">
            <a:extLst>
              <a:ext uri="{FF2B5EF4-FFF2-40B4-BE49-F238E27FC236}">
                <a16:creationId xmlns:a16="http://schemas.microsoft.com/office/drawing/2014/main" id="{A0269AD3-E880-896C-5BF1-64E78320C94B}"/>
              </a:ext>
            </a:extLst>
          </p:cNvPr>
          <p:cNvSpPr>
            <a:spLocks noGrp="1"/>
          </p:cNvSpPr>
          <p:nvPr>
            <p:ph type="body" idx="1"/>
          </p:nvPr>
        </p:nvSpPr>
        <p:spPr>
          <a:xfrm>
            <a:off x="838200" y="140970"/>
            <a:ext cx="10515600" cy="4351338"/>
          </a:xfrm>
        </p:spPr>
        <p:txBody>
          <a:bodyPr/>
          <a:lstStyle/>
          <a:p>
            <a:pPr marL="114300" indent="0" fontAlgn="base">
              <a:buNone/>
            </a:pPr>
            <a:r>
              <a:rPr lang="en-US" sz="2000" b="1" dirty="0"/>
              <a:t>4. Predict &amp; Prevent Risks</a:t>
            </a:r>
            <a:r>
              <a:rPr lang="en-US" sz="2000" dirty="0"/>
              <a:t> – Forecast stress peaks, suggest preventive strategies, and issue alerts when high-risk signals are detected (with consent). </a:t>
            </a:r>
          </a:p>
          <a:p>
            <a:pPr marL="114300" indent="0" fontAlgn="base">
              <a:buNone/>
            </a:pPr>
            <a:r>
              <a:rPr lang="en-US" sz="2000" b="1" dirty="0"/>
              <a:t>5. Connect to Human Support</a:t>
            </a:r>
            <a:r>
              <a:rPr lang="en-US" sz="2000" dirty="0"/>
              <a:t> – Link users to helplines, counselors, or community support for timely intervention. </a:t>
            </a:r>
          </a:p>
          <a:p>
            <a:pPr fontAlgn="base"/>
            <a:endParaRPr lang="en-US" sz="2000" dirty="0"/>
          </a:p>
          <a:p>
            <a:pPr marL="114300" indent="0" fontAlgn="base">
              <a:buNone/>
            </a:pPr>
            <a:r>
              <a:rPr lang="en-US" sz="2000" b="1" dirty="0"/>
              <a:t>Tech Stack (Mandatory) </a:t>
            </a:r>
          </a:p>
          <a:p>
            <a:pPr marL="114300" indent="0" fontAlgn="base">
              <a:buNone/>
            </a:pPr>
            <a:r>
              <a:rPr lang="en-IN" sz="2000" dirty="0"/>
              <a:t>• IBM </a:t>
            </a:r>
            <a:r>
              <a:rPr lang="en-IN" sz="2000" dirty="0" err="1"/>
              <a:t>Langflow</a:t>
            </a:r>
            <a:r>
              <a:rPr lang="en-IN" sz="2000" dirty="0"/>
              <a:t> / IBM Orchestrate + IBM Models</a:t>
            </a:r>
          </a:p>
          <a:p>
            <a:endParaRPr lang="en-IN" dirty="0"/>
          </a:p>
        </p:txBody>
      </p:sp>
    </p:spTree>
    <p:extLst>
      <p:ext uri="{BB962C8B-B14F-4D97-AF65-F5344CB8AC3E}">
        <p14:creationId xmlns:p14="http://schemas.microsoft.com/office/powerpoint/2010/main" val="38933713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539978"/>
          </a:xfrm>
          <a:prstGeom prst="rect">
            <a:avLst/>
          </a:prstGeom>
          <a:noFill/>
        </p:spPr>
        <p:txBody>
          <a:bodyPr wrap="square" rtlCol="0">
            <a:spAutoFit/>
          </a:bodyPr>
          <a:lstStyle/>
          <a:p>
            <a:pPr fontAlgn="base"/>
            <a:endParaRPr lang="en-US" b="1" dirty="0"/>
          </a:p>
          <a:p>
            <a:r>
              <a:rPr lang="en-IN" sz="2000" b="1" dirty="0"/>
              <a:t>Proposed Solution: Agentic AI for Mental Health Awareness &amp; Suicide Prevention</a:t>
            </a:r>
          </a:p>
          <a:p>
            <a:r>
              <a:rPr lang="en-IN" sz="2000" dirty="0"/>
              <a:t>The proposed solution is an </a:t>
            </a:r>
            <a:r>
              <a:rPr lang="en-IN" sz="2000" b="1" dirty="0"/>
              <a:t>Agentic AI-powered Mental Health Awareness &amp; Suicide Prevention Agent</a:t>
            </a:r>
            <a:r>
              <a:rPr lang="en-IN" sz="2000" dirty="0"/>
              <a:t> built using </a:t>
            </a:r>
            <a:r>
              <a:rPr lang="en-IN" sz="2000" b="1" dirty="0"/>
              <a:t>IBM </a:t>
            </a:r>
            <a:r>
              <a:rPr lang="en-IN" sz="2000" b="1" dirty="0" err="1"/>
              <a:t>Langflow</a:t>
            </a:r>
            <a:r>
              <a:rPr lang="en-IN" sz="2000" b="1" dirty="0"/>
              <a:t>/IBM Orchestrate</a:t>
            </a:r>
            <a:r>
              <a:rPr lang="en-IN" sz="2000" dirty="0"/>
              <a:t> and </a:t>
            </a:r>
            <a:r>
              <a:rPr lang="en-IN" sz="2000" b="1" dirty="0"/>
              <a:t>IBM Models</a:t>
            </a:r>
            <a:r>
              <a:rPr lang="en-IN" sz="2000" dirty="0"/>
              <a:t>. The solution promotes mental health awareness, enables early detection of distress, provides empathetic support, predicts potential risks, and connects users with professional help when needed.</a:t>
            </a:r>
          </a:p>
          <a:p>
            <a:r>
              <a:rPr lang="en-IN" sz="2000" dirty="0"/>
              <a:t>The system leverages a </a:t>
            </a:r>
            <a:r>
              <a:rPr lang="en-IN" sz="2000" b="1" dirty="0"/>
              <a:t>Retrieval-Augmented Generation (RAG)</a:t>
            </a:r>
            <a:r>
              <a:rPr lang="en-IN" sz="2000" dirty="0"/>
              <a:t> pipeline to retrieve trusted information from verified mental health resources such as </a:t>
            </a:r>
            <a:r>
              <a:rPr lang="en-IN" sz="2000" b="1" dirty="0"/>
              <a:t>WHO</a:t>
            </a:r>
            <a:r>
              <a:rPr lang="en-IN" sz="2000" dirty="0"/>
              <a:t>, </a:t>
            </a:r>
            <a:r>
              <a:rPr lang="en-IN" sz="2000" b="1" dirty="0"/>
              <a:t>NIMH</a:t>
            </a:r>
            <a:r>
              <a:rPr lang="en-IN" sz="2000" dirty="0"/>
              <a:t>, and </a:t>
            </a:r>
            <a:r>
              <a:rPr lang="en-IN" sz="2000" dirty="0" err="1"/>
              <a:t>counseling</a:t>
            </a:r>
            <a:r>
              <a:rPr lang="en-IN" sz="2000" dirty="0"/>
              <a:t> guidelines. The knowledge is stored in a vector database, allowing the AI to provide accurate, context-aware, and reliable responses.</a:t>
            </a:r>
          </a:p>
          <a:p>
            <a:r>
              <a:rPr lang="en-IN" sz="2000" dirty="0"/>
              <a:t>The solution consists of five AI agents:</a:t>
            </a:r>
          </a:p>
          <a:p>
            <a:pPr lvl="0"/>
            <a:r>
              <a:rPr lang="en-IN" sz="2000" b="1" dirty="0"/>
              <a:t>Awareness &amp; Education Agent:</a:t>
            </a:r>
            <a:r>
              <a:rPr lang="en-IN" sz="2000" dirty="0"/>
              <a:t> Shares resources on mindfulness, stress management, coping strategies, and self-care practices.</a:t>
            </a:r>
          </a:p>
          <a:p>
            <a:pPr lvl="0"/>
            <a:r>
              <a:rPr lang="en-IN" sz="2000" b="1" dirty="0"/>
              <a:t>Early Detection Agent (RAG):</a:t>
            </a:r>
            <a:r>
              <a:rPr lang="en-IN" sz="2000" dirty="0"/>
              <a:t> </a:t>
            </a:r>
            <a:r>
              <a:rPr lang="en-IN" sz="2000" dirty="0" err="1"/>
              <a:t>Analyzes</a:t>
            </a:r>
            <a:r>
              <a:rPr lang="en-IN" sz="2000" dirty="0"/>
              <a:t> conversations, journaling inputs, and mood patterns to identify early signs of stress, anxiety, depression, or emotional distress.</a:t>
            </a:r>
          </a:p>
          <a:p>
            <a:pPr lvl="0"/>
            <a:r>
              <a:rPr lang="en-IN" sz="2000" b="1" dirty="0"/>
              <a:t>Empathetic Support Agent:</a:t>
            </a:r>
            <a:r>
              <a:rPr lang="en-IN" sz="2000" dirty="0"/>
              <a:t> Provides compassionate conversations, active listening, and evidence-based wellness suggestions, while clearly stating that it is </a:t>
            </a:r>
            <a:r>
              <a:rPr lang="en-IN" sz="2000" b="1" dirty="0"/>
              <a:t>not a substitute for</a:t>
            </a:r>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523220"/>
          </a:xfrm>
          <a:prstGeom prst="rect">
            <a:avLst/>
          </a:prstGeom>
          <a:noFill/>
        </p:spPr>
        <p:txBody>
          <a:bodyPr wrap="square" rtlCol="0">
            <a:spAutoFit/>
          </a:bodyPr>
          <a:lstStyle/>
          <a:p>
            <a:r>
              <a:rPr lang="en-US" sz="2800" b="1" dirty="0"/>
              <a:t>Proposed Solution -</a:t>
            </a:r>
            <a:endParaRPr lang="en-IN" sz="2800" b="1" dirty="0"/>
          </a:p>
        </p:txBody>
      </p:sp>
    </p:spTree>
    <p:extLst>
      <p:ext uri="{BB962C8B-B14F-4D97-AF65-F5344CB8AC3E}">
        <p14:creationId xmlns:p14="http://schemas.microsoft.com/office/powerpoint/2010/main" val="619459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730BAE3-7E45-5E7B-D855-309557B35901}"/>
              </a:ext>
            </a:extLst>
          </p:cNvPr>
          <p:cNvSpPr>
            <a:spLocks noGrp="1"/>
          </p:cNvSpPr>
          <p:nvPr>
            <p:ph type="body" idx="1"/>
          </p:nvPr>
        </p:nvSpPr>
        <p:spPr>
          <a:xfrm>
            <a:off x="838200" y="365125"/>
            <a:ext cx="10515600" cy="4349115"/>
          </a:xfrm>
        </p:spPr>
        <p:txBody>
          <a:bodyPr>
            <a:noAutofit/>
          </a:bodyPr>
          <a:lstStyle/>
          <a:p>
            <a:pPr marL="114300" lvl="0" indent="0">
              <a:buNone/>
            </a:pPr>
            <a:r>
              <a:rPr lang="en-IN" sz="2000" b="1" dirty="0"/>
              <a:t>Empathetic Support Agent:</a:t>
            </a:r>
            <a:r>
              <a:rPr lang="en-IN" sz="2000" dirty="0"/>
              <a:t> Provides compassionate conversations, active listening, and evidence-based wellness suggestions, while clearly stating that it is </a:t>
            </a:r>
            <a:r>
              <a:rPr lang="en-IN" sz="2000" b="1" dirty="0"/>
              <a:t>not a substitute for professional medical advice</a:t>
            </a:r>
            <a:r>
              <a:rPr lang="en-IN" sz="2000" dirty="0"/>
              <a:t>.</a:t>
            </a:r>
          </a:p>
          <a:p>
            <a:pPr marL="114300" lvl="0" indent="0">
              <a:buNone/>
            </a:pPr>
            <a:r>
              <a:rPr lang="en-IN" sz="2000" b="1" dirty="0"/>
              <a:t>Risk Prediction &amp; Prevention Agent:</a:t>
            </a:r>
            <a:r>
              <a:rPr lang="en-IN" sz="2000" dirty="0"/>
              <a:t> Forecasts stress peaks, recommends preventive actions, and issues alerts when high-risk signals are detected, with user consent.</a:t>
            </a:r>
          </a:p>
          <a:p>
            <a:pPr marL="114300" lvl="0" indent="0">
              <a:buNone/>
            </a:pPr>
            <a:r>
              <a:rPr lang="en-IN" sz="2000" b="1" dirty="0"/>
              <a:t>Human Support Agent:</a:t>
            </a:r>
            <a:r>
              <a:rPr lang="en-IN" sz="2000" dirty="0"/>
              <a:t> Connects users to helplines, </a:t>
            </a:r>
            <a:r>
              <a:rPr lang="en-IN" sz="2000" dirty="0" err="1"/>
              <a:t>counselors</a:t>
            </a:r>
            <a:r>
              <a:rPr lang="en-IN" sz="2000" dirty="0"/>
              <a:t>, trusted contacts, or community support for timely intervention during critical situations.</a:t>
            </a:r>
          </a:p>
          <a:p>
            <a:pPr marL="114300" indent="0">
              <a:buNone/>
            </a:pPr>
            <a:r>
              <a:rPr lang="en-IN" sz="2000" dirty="0"/>
              <a:t>A user-friendly dashboard built with </a:t>
            </a:r>
            <a:r>
              <a:rPr lang="en-IN" sz="2000" b="1" dirty="0"/>
              <a:t>React</a:t>
            </a:r>
            <a:r>
              <a:rPr lang="en-IN" sz="2000" dirty="0"/>
              <a:t> or </a:t>
            </a:r>
            <a:r>
              <a:rPr lang="en-IN" sz="2000" b="1" dirty="0" err="1"/>
              <a:t>Streamlit</a:t>
            </a:r>
            <a:r>
              <a:rPr lang="en-IN" sz="2000" dirty="0"/>
              <a:t> visualizes mood trends, wellness scores, journaling history, and personalized recommendations.</a:t>
            </a:r>
          </a:p>
          <a:p>
            <a:pPr marL="114300" indent="0">
              <a:buNone/>
            </a:pPr>
            <a:r>
              <a:rPr lang="en-IN" sz="2000" b="1" dirty="0"/>
              <a:t>IBM </a:t>
            </a:r>
            <a:r>
              <a:rPr lang="en-IN" sz="2000" b="1" dirty="0" err="1"/>
              <a:t>Langflow</a:t>
            </a:r>
            <a:r>
              <a:rPr lang="en-IN" sz="2000" b="1" dirty="0"/>
              <a:t>/IBM Orchestrate</a:t>
            </a:r>
            <a:r>
              <a:rPr lang="en-IN" sz="2000" dirty="0"/>
              <a:t> manages the workflow between AI agents, while </a:t>
            </a:r>
            <a:r>
              <a:rPr lang="en-IN" sz="2000" b="1" dirty="0"/>
              <a:t>IBM Models</a:t>
            </a:r>
            <a:r>
              <a:rPr lang="en-IN" sz="2000" dirty="0"/>
              <a:t> power reasoning, sentiment analysis, summarization, and personalized responses. The platform also incorporates responsible AI practices, user privacy, consent management, and AI governance to ensure safe and trustworthy interactions.</a:t>
            </a:r>
          </a:p>
          <a:p>
            <a:pPr marL="114300" indent="0">
              <a:buNone/>
            </a:pPr>
            <a:r>
              <a:rPr lang="en-IN" sz="2000" dirty="0"/>
              <a:t>Overall, the solution delivers an intelligent, empathetic, and proactive mental health assistant that combines </a:t>
            </a:r>
            <a:r>
              <a:rPr lang="en-IN" sz="2000" b="1" dirty="0"/>
              <a:t>Awareness &amp; Education, Early Detection (RAG), Empathetic Support, Predict &amp; Prevent Risks, and Human Support</a:t>
            </a:r>
            <a:r>
              <a:rPr lang="en-IN" sz="2000" dirty="0"/>
              <a:t>, helping users improve mental well-being through timely guidance and preventive care.</a:t>
            </a:r>
          </a:p>
          <a:p>
            <a:pPr fontAlgn="base"/>
            <a:endParaRPr lang="en-US" sz="2000" dirty="0"/>
          </a:p>
          <a:p>
            <a:endParaRPr lang="en-IN" sz="2000" dirty="0"/>
          </a:p>
        </p:txBody>
      </p:sp>
    </p:spTree>
    <p:extLst>
      <p:ext uri="{BB962C8B-B14F-4D97-AF65-F5344CB8AC3E}">
        <p14:creationId xmlns:p14="http://schemas.microsoft.com/office/powerpoint/2010/main" val="3696835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324535"/>
          </a:xfrm>
          <a:prstGeom prst="rect">
            <a:avLst/>
          </a:prstGeom>
          <a:noFill/>
        </p:spPr>
        <p:txBody>
          <a:bodyPr wrap="square" rtlCol="0">
            <a:spAutoFit/>
          </a:bodyPr>
          <a:lstStyle/>
          <a:p>
            <a:pPr marL="285750" indent="-285750">
              <a:buFont typeface="Arial" panose="020B0604020202020204" pitchFamily="34" charset="0"/>
              <a:buChar char="•"/>
            </a:pPr>
            <a:r>
              <a:rPr lang="en-US" sz="2000" b="1" dirty="0"/>
              <a:t>IBM Bob platform </a:t>
            </a:r>
            <a:r>
              <a:rPr lang="en-US" sz="2000" dirty="0"/>
              <a:t>-For designing and orchestrating multi-agent workflows visually</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IBM </a:t>
            </a:r>
            <a:r>
              <a:rPr lang="en-US" sz="2000" b="1" dirty="0" err="1"/>
              <a:t>Grainte</a:t>
            </a:r>
            <a:r>
              <a:rPr lang="en-US" sz="2000" b="1" dirty="0"/>
              <a:t> model </a:t>
            </a:r>
            <a:r>
              <a:rPr lang="en-US" sz="2000" dirty="0"/>
              <a:t>-  for </a:t>
            </a:r>
            <a:r>
              <a:rPr lang="en-US" sz="2000" dirty="0" err="1"/>
              <a:t>eg</a:t>
            </a:r>
            <a:r>
              <a:rPr lang="en-US" sz="2000" dirty="0"/>
              <a:t> – ibm-granite-3-2-8b – For natural language understanding, reasoning, and personalization</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IBM Cloud </a:t>
            </a:r>
            <a:r>
              <a:rPr lang="en-US" sz="2000" dirty="0"/>
              <a:t>– It provides the infrastructure to build, deploy, and scale the Nutrition Agent efficiently. IBM Cloud enables a </a:t>
            </a:r>
            <a:r>
              <a:rPr lang="en-US" sz="2000" b="1" dirty="0"/>
              <a:t>reliable, secure, and scalable environment</a:t>
            </a:r>
            <a:r>
              <a:rPr lang="en-US" sz="2000" dirty="0"/>
              <a:t> for deploying the Nutrition Agent.</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RAG– </a:t>
            </a:r>
            <a:r>
              <a:rPr lang="en-US" sz="2000" dirty="0"/>
              <a:t>RAG to </a:t>
            </a:r>
            <a:r>
              <a:rPr lang="en-US" sz="2000" b="1" dirty="0"/>
              <a:t>fetch real data first, then generate intelligent answers</a:t>
            </a:r>
            <a:r>
              <a:rPr lang="en-US" sz="2000" dirty="0"/>
              <a:t>, making the Nutrition Agent more trustworthy and effective.</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b="1" dirty="0"/>
              <a:t>IBM Watsonx.ai - </a:t>
            </a:r>
            <a:r>
              <a:rPr lang="en-US" sz="2000" dirty="0"/>
              <a:t>For model deployment, embeddings, and AI governance</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IN" sz="2000" b="1" dirty="0"/>
              <a:t>Vector Database </a:t>
            </a:r>
            <a:r>
              <a:rPr lang="en-IN" sz="2000" dirty="0"/>
              <a:t>(FAISS/Chroma) – For RAG-based nutritional data retrieval</a:t>
            </a:r>
            <a:endParaRPr lang="en-US" sz="2000" dirty="0"/>
          </a:p>
          <a:p>
            <a:endParaRPr lang="en-IN" sz="2000" dirty="0"/>
          </a:p>
        </p:txBody>
      </p:sp>
    </p:spTree>
    <p:extLst>
      <p:ext uri="{BB962C8B-B14F-4D97-AF65-F5344CB8AC3E}">
        <p14:creationId xmlns:p14="http://schemas.microsoft.com/office/powerpoint/2010/main" val="4436039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dirty="0">
                <a:sym typeface="Times New Roman"/>
              </a:rPr>
              <a:t>Required Files created using IBM bob -</a:t>
            </a:r>
            <a:endParaRPr sz="28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43677"/>
            <a:ext cx="8823960" cy="2585323"/>
          </a:xfrm>
          <a:prstGeom prst="rect">
            <a:avLst/>
          </a:prstGeom>
          <a:noFill/>
        </p:spPr>
        <p:txBody>
          <a:bodyPr wrap="square" rtlCol="0">
            <a:spAutoFit/>
          </a:bodyPr>
          <a:lstStyle/>
          <a:p>
            <a:endParaRPr lang="en-US" sz="1800" dirty="0"/>
          </a:p>
          <a:p>
            <a:pPr marL="342900" indent="-342900">
              <a:buFont typeface="+mj-lt"/>
              <a:buAutoNum type="arabicPeriod"/>
            </a:pPr>
            <a:r>
              <a:rPr lang="en-US" sz="18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
        <p:nvSpPr>
          <p:cNvPr id="9" name="Rectangle 8">
            <a:extLst>
              <a:ext uri="{FF2B5EF4-FFF2-40B4-BE49-F238E27FC236}">
                <a16:creationId xmlns:a16="http://schemas.microsoft.com/office/drawing/2014/main" id="{6FFF7BC6-93D0-8D42-34B7-C226B1B96C2D}"/>
              </a:ext>
            </a:extLst>
          </p:cNvPr>
          <p:cNvSpPr/>
          <p:nvPr/>
        </p:nvSpPr>
        <p:spPr>
          <a:xfrm>
            <a:off x="4250700" y="2029968"/>
            <a:ext cx="5908284" cy="317232"/>
          </a:xfrm>
          <a:prstGeom prst="rect">
            <a:avLst/>
          </a:prstGeom>
          <a:solidFill>
            <a:srgbClr val="E71224">
              <a:alpha val="5000"/>
            </a:srgbClr>
          </a:solidFill>
          <a:ln w="72000">
            <a:solidFill>
              <a:srgbClr val="E712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rgbClr val="E71224"/>
              </a:solidFill>
            </a:endParaRPr>
          </a:p>
        </p:txBody>
      </p:sp>
      <p:sp>
        <p:nvSpPr>
          <p:cNvPr id="10" name="Arrow: Right 9">
            <a:extLst>
              <a:ext uri="{FF2B5EF4-FFF2-40B4-BE49-F238E27FC236}">
                <a16:creationId xmlns:a16="http://schemas.microsoft.com/office/drawing/2014/main" id="{A6C81E80-ED7B-4240-A8EE-0221D9ACD900}"/>
              </a:ext>
            </a:extLst>
          </p:cNvPr>
          <p:cNvSpPr/>
          <p:nvPr/>
        </p:nvSpPr>
        <p:spPr>
          <a:xfrm rot="8280234">
            <a:off x="7719727" y="1520573"/>
            <a:ext cx="923544" cy="3383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9FCFB82B-D4EC-DDB9-4106-BCF733C17FF6}"/>
              </a:ext>
            </a:extLst>
          </p:cNvPr>
          <p:cNvPicPr>
            <a:picLocks noChangeAspect="1"/>
          </p:cNvPicPr>
          <p:nvPr/>
        </p:nvPicPr>
        <p:blipFill>
          <a:blip r:embed="rId3"/>
          <a:stretch>
            <a:fillRect/>
          </a:stretch>
        </p:blipFill>
        <p:spPr>
          <a:xfrm>
            <a:off x="4123672" y="1136688"/>
            <a:ext cx="7393373" cy="5398073"/>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800" b="1" i="0" u="none" strike="noStrike" cap="none" dirty="0">
                <a:solidFill>
                  <a:srgbClr val="051D3A"/>
                </a:solidFill>
                <a:latin typeface="Times New Roman"/>
                <a:ea typeface="Times New Roman"/>
                <a:cs typeface="Times New Roman"/>
                <a:sym typeface="Times New Roman"/>
              </a:rPr>
              <a:t> IBM Bob Screenshots :</a:t>
            </a:r>
            <a:endParaRPr sz="2800" b="1" dirty="0">
              <a:sym typeface="Times New Roman"/>
            </a:endParaRPr>
          </a:p>
        </p:txBody>
      </p:sp>
      <p:pic>
        <p:nvPicPr>
          <p:cNvPr id="7" name="Picture 6">
            <a:extLst>
              <a:ext uri="{FF2B5EF4-FFF2-40B4-BE49-F238E27FC236}">
                <a16:creationId xmlns:a16="http://schemas.microsoft.com/office/drawing/2014/main" id="{01C32C0B-89E2-C7EC-9188-271E438FE2EC}"/>
              </a:ext>
            </a:extLst>
          </p:cNvPr>
          <p:cNvPicPr>
            <a:picLocks noChangeAspect="1"/>
          </p:cNvPicPr>
          <p:nvPr/>
        </p:nvPicPr>
        <p:blipFill>
          <a:blip r:embed="rId3"/>
          <a:stretch>
            <a:fillRect/>
          </a:stretch>
        </p:blipFill>
        <p:spPr>
          <a:xfrm>
            <a:off x="918972" y="859487"/>
            <a:ext cx="10354056" cy="5821796"/>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Calibri"/>
                <a:ea typeface="Calibri"/>
                <a:cs typeface="Calibri"/>
                <a:sym typeface="Calibri"/>
              </a:rPr>
              <a:t>Architecture blueprint for IBM bob :</a:t>
            </a:r>
            <a:endParaRPr lang="en-US" sz="2800" dirty="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tretch>
            <a:fillRect/>
          </a:stretch>
        </p:blipFill>
        <p:spPr>
          <a:xfrm>
            <a:off x="535570" y="675732"/>
            <a:ext cx="11468100" cy="6181725"/>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23220"/>
          </a:xfrm>
          <a:prstGeom prst="rect">
            <a:avLst/>
          </a:prstGeom>
          <a:noFill/>
        </p:spPr>
        <p:txBody>
          <a:bodyPr wrap="square" rtlCol="0">
            <a:spAutoFit/>
          </a:bodyPr>
          <a:lstStyle/>
          <a:p>
            <a:r>
              <a:rPr lang="en-US" sz="2800" b="1" dirty="0"/>
              <a:t>Role of Agentic AI in the solution </a:t>
            </a:r>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401205"/>
          </a:xfrm>
          <a:prstGeom prst="rect">
            <a:avLst/>
          </a:prstGeom>
          <a:noFill/>
        </p:spPr>
        <p:txBody>
          <a:bodyPr wrap="square" rtlCol="0">
            <a:spAutoFit/>
          </a:bodyPr>
          <a:lstStyle/>
          <a:p>
            <a:r>
              <a:rPr lang="en-IN" sz="2000" b="1" dirty="0"/>
              <a:t>Role of Agentic AI in Mental Health Awareness &amp; Suicide Prevention Agent</a:t>
            </a:r>
          </a:p>
          <a:p>
            <a:r>
              <a:rPr lang="en-IN" sz="2000" dirty="0"/>
              <a:t>Agentic AI enables the Mental Health Awareness &amp; Suicide Prevention Agent to function as an intelligent, empathetic support system rather than a simple chatbot. Using </a:t>
            </a:r>
            <a:r>
              <a:rPr lang="en-IN" sz="2000" b="1" dirty="0"/>
              <a:t>IBM </a:t>
            </a:r>
            <a:r>
              <a:rPr lang="en-IN" sz="2000" b="1" dirty="0" err="1"/>
              <a:t>Langflow</a:t>
            </a:r>
            <a:r>
              <a:rPr lang="en-IN" sz="2000" b="1" dirty="0"/>
              <a:t>/IBM Orchestrate</a:t>
            </a:r>
            <a:r>
              <a:rPr lang="en-IN" sz="2000" dirty="0"/>
              <a:t> and </a:t>
            </a:r>
            <a:r>
              <a:rPr lang="en-IN" sz="2000" b="1" dirty="0"/>
              <a:t>IBM Models</a:t>
            </a:r>
            <a:r>
              <a:rPr lang="en-IN" sz="2000" dirty="0"/>
              <a:t>, it coordinates multiple specialized agents to provide personalized mental health assistance.</a:t>
            </a:r>
          </a:p>
          <a:p>
            <a:r>
              <a:rPr lang="en-IN" sz="2000" dirty="0"/>
              <a:t>Each agent performs a specific role—such as promoting awareness, detecting early signs of distress using </a:t>
            </a:r>
            <a:r>
              <a:rPr lang="en-IN" sz="2000" b="1" dirty="0"/>
              <a:t>RAG</a:t>
            </a:r>
            <a:r>
              <a:rPr lang="en-IN" sz="2000" dirty="0"/>
              <a:t>, providing empathetic support, predicting potential risks, and connecting users to human support—while working collaboratively. This multi-agent approach ensures efficient task execution and timely responses.</a:t>
            </a:r>
          </a:p>
        </p:txBody>
      </p:sp>
    </p:spTree>
    <p:extLst>
      <p:ext uri="{BB962C8B-B14F-4D97-AF65-F5344CB8AC3E}">
        <p14:creationId xmlns:p14="http://schemas.microsoft.com/office/powerpoint/2010/main" val="40006969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BB7C667-C3D6-2C2F-8F48-C0296FF0B9FF}"/>
              </a:ext>
            </a:extLst>
          </p:cNvPr>
          <p:cNvSpPr>
            <a:spLocks noGrp="1"/>
          </p:cNvSpPr>
          <p:nvPr>
            <p:ph type="body" idx="1"/>
          </p:nvPr>
        </p:nvSpPr>
        <p:spPr>
          <a:xfrm>
            <a:off x="736600" y="514985"/>
            <a:ext cx="10515600" cy="4351338"/>
          </a:xfrm>
        </p:spPr>
        <p:txBody>
          <a:bodyPr>
            <a:normAutofit/>
          </a:bodyPr>
          <a:lstStyle/>
          <a:p>
            <a:endParaRPr lang="en-IN" sz="2000" dirty="0">
              <a:latin typeface="+mn-lt"/>
            </a:endParaRPr>
          </a:p>
          <a:p>
            <a:pPr marL="114300" indent="0">
              <a:buNone/>
            </a:pPr>
            <a:r>
              <a:rPr lang="en-IN" sz="2000" dirty="0">
                <a:latin typeface="+mn-lt"/>
              </a:rPr>
              <a:t>Agentic AI also brings context awareness by understanding user conversations, mood patterns, and journaling inputs to provide personalized guidance. It supports real-time adaptation, continuously updating recommendations based on user interactions.</a:t>
            </a:r>
          </a:p>
          <a:p>
            <a:pPr marL="114300" indent="0">
              <a:buNone/>
            </a:pPr>
            <a:r>
              <a:rPr lang="en-IN" sz="2000" dirty="0">
                <a:latin typeface="+mn-lt"/>
              </a:rPr>
              <a:t>Additionally, agents communicate with each other, enabling better decision-making and timely intervention when high-risk signals are detected.</a:t>
            </a:r>
          </a:p>
          <a:p>
            <a:pPr marL="114300" indent="0">
              <a:buNone/>
            </a:pPr>
            <a:r>
              <a:rPr lang="en-IN" sz="2000" dirty="0">
                <a:latin typeface="+mn-lt"/>
              </a:rPr>
              <a:t>Overall, Agentic AI makes the system proactive, empathetic, and goal-driven, acting like a trusted mental wellness companion that promotes awareness, supports early intervention, and encourages healthier well-being.</a:t>
            </a:r>
          </a:p>
          <a:p>
            <a:endParaRPr lang="en-IN" sz="2000" dirty="0">
              <a:latin typeface="+mn-lt"/>
            </a:endParaRPr>
          </a:p>
        </p:txBody>
      </p:sp>
    </p:spTree>
    <p:extLst>
      <p:ext uri="{BB962C8B-B14F-4D97-AF65-F5344CB8AC3E}">
        <p14:creationId xmlns:p14="http://schemas.microsoft.com/office/powerpoint/2010/main" val="2939666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Token Usage </a:t>
            </a:r>
            <a:endParaRPr sz="28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49237330-B08B-2CE4-E804-9AF6CF7C1B7A}"/>
              </a:ext>
            </a:extLst>
          </p:cNvPr>
          <p:cNvPicPr>
            <a:picLocks noChangeAspect="1"/>
          </p:cNvPicPr>
          <p:nvPr/>
        </p:nvPicPr>
        <p:blipFill>
          <a:blip r:embed="rId3"/>
          <a:stretch>
            <a:fillRect/>
          </a:stretch>
        </p:blipFill>
        <p:spPr>
          <a:xfrm>
            <a:off x="474776" y="816977"/>
            <a:ext cx="11308080" cy="5820861"/>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2BC53853-B5AD-31DD-9FE9-2D97CAC505D9}"/>
              </a:ext>
            </a:extLst>
          </p:cNvPr>
          <p:cNvPicPr>
            <a:picLocks noChangeAspect="1"/>
          </p:cNvPicPr>
          <p:nvPr/>
        </p:nvPicPr>
        <p:blipFill>
          <a:blip r:embed="rId3"/>
          <a:stretch>
            <a:fillRect/>
          </a:stretch>
        </p:blipFill>
        <p:spPr>
          <a:xfrm>
            <a:off x="553720" y="816977"/>
            <a:ext cx="11084560" cy="5714654"/>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800" b="1" dirty="0">
                <a:sym typeface="Times New Roman"/>
              </a:rPr>
              <a:t> Project Output Screenshot</a:t>
            </a:r>
            <a:endParaRPr sz="2800" b="1" dirty="0">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7" name="Picture 6">
            <a:extLst>
              <a:ext uri="{FF2B5EF4-FFF2-40B4-BE49-F238E27FC236}">
                <a16:creationId xmlns:a16="http://schemas.microsoft.com/office/drawing/2014/main" id="{2674E0F9-583B-BDB0-1542-5B46A862F58C}"/>
              </a:ext>
            </a:extLst>
          </p:cNvPr>
          <p:cNvPicPr>
            <a:picLocks noChangeAspect="1"/>
          </p:cNvPicPr>
          <p:nvPr/>
        </p:nvPicPr>
        <p:blipFill>
          <a:blip r:embed="rId3"/>
          <a:stretch>
            <a:fillRect/>
          </a:stretch>
        </p:blipFill>
        <p:spPr>
          <a:xfrm>
            <a:off x="609362" y="970709"/>
            <a:ext cx="10973276" cy="5622289"/>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632311"/>
          </a:xfrm>
          <a:prstGeom prst="rect">
            <a:avLst/>
          </a:prstGeom>
          <a:noFill/>
        </p:spPr>
        <p:txBody>
          <a:bodyPr wrap="square" rtlCol="0">
            <a:spAutoFit/>
          </a:bodyPr>
          <a:lstStyle/>
          <a:p>
            <a:r>
              <a:rPr lang="en-IN" sz="2000" dirty="0"/>
              <a:t>What sets this solution apart from traditional mental health apps and simple conversational bots is its shift from </a:t>
            </a:r>
            <a:r>
              <a:rPr lang="en-IN" sz="2000" b="1" dirty="0"/>
              <a:t>reactive, single-prompt assistance</a:t>
            </a:r>
            <a:r>
              <a:rPr lang="en-IN" sz="2000" dirty="0"/>
              <a:t> to a </a:t>
            </a:r>
            <a:r>
              <a:rPr lang="en-IN" sz="2000" b="1" dirty="0"/>
              <a:t>proactive, clinically-grounded multi-agent ecosystem</a:t>
            </a:r>
            <a:r>
              <a:rPr lang="en-IN" sz="2000" dirty="0"/>
              <a:t>.</a:t>
            </a:r>
          </a:p>
          <a:p>
            <a:endParaRPr lang="en-IN" sz="2000" dirty="0"/>
          </a:p>
          <a:p>
            <a:r>
              <a:rPr lang="en-IN" sz="2000" b="1" dirty="0"/>
              <a:t>1. Agentic Collaborative Architecture (Beyond Single-Prompt Bots)</a:t>
            </a:r>
          </a:p>
          <a:p>
            <a:r>
              <a:rPr lang="en-IN" sz="2000" dirty="0"/>
              <a:t>Unlike standard chatbots that rely on a single system prompt, this solution operates as a </a:t>
            </a:r>
            <a:r>
              <a:rPr lang="en-IN" sz="2000" b="1" dirty="0"/>
              <a:t>coordinated network of specialized sub-agents</a:t>
            </a:r>
            <a:r>
              <a:rPr lang="en-IN" sz="2000" dirty="0"/>
              <a:t> orchestrated via </a:t>
            </a:r>
            <a:r>
              <a:rPr lang="en-IN" sz="2000" b="1" dirty="0"/>
              <a:t>IBM </a:t>
            </a:r>
            <a:r>
              <a:rPr lang="en-IN" sz="2000" b="1" dirty="0" err="1"/>
              <a:t>watsonx</a:t>
            </a:r>
            <a:r>
              <a:rPr lang="en-IN" sz="2000" b="1" dirty="0"/>
              <a:t> Orchestrate</a:t>
            </a:r>
            <a:r>
              <a:rPr lang="en-IN" sz="2000" dirty="0"/>
              <a:t>:</a:t>
            </a:r>
          </a:p>
          <a:p>
            <a:pPr lvl="0"/>
            <a:r>
              <a:rPr lang="en-IN" sz="2000" b="1" dirty="0"/>
              <a:t>Sentiment &amp; Risk Agent:</a:t>
            </a:r>
            <a:r>
              <a:rPr lang="en-IN" sz="2000" dirty="0"/>
              <a:t> Operates continuously in the background to monitor distress intensity, vocal/text cadence, and risk factors without disrupting conversation flow.</a:t>
            </a:r>
          </a:p>
          <a:p>
            <a:pPr lvl="0"/>
            <a:r>
              <a:rPr lang="en-IN" sz="2000" b="1" dirty="0"/>
              <a:t>Psychoeducation Agent:</a:t>
            </a:r>
            <a:r>
              <a:rPr lang="en-IN" sz="2000" dirty="0"/>
              <a:t> Dynamically retrieves evidence-based coping mechanisms (CBT, DBT, mindfulness) tailored to the user’s immediate state.</a:t>
            </a:r>
          </a:p>
          <a:p>
            <a:pPr lvl="0"/>
            <a:r>
              <a:rPr lang="en-IN" sz="2000" b="1" dirty="0"/>
              <a:t>Emergency &amp; Crisis Triage Agent:</a:t>
            </a:r>
            <a:r>
              <a:rPr lang="en-IN" sz="2000" dirty="0"/>
              <a:t> Intercepts high-risk scenarios instantly, bypassing standard conversational loops to trigger safety protocols.</a:t>
            </a:r>
          </a:p>
          <a:p>
            <a:r>
              <a:rPr lang="en-IN" sz="2000" b="1" dirty="0"/>
              <a:t>2. Dynamic RAG with Safety-First Hallucination Suppression</a:t>
            </a:r>
          </a:p>
          <a:p>
            <a:r>
              <a:rPr lang="en-IN" sz="2000" dirty="0"/>
              <a:t>Traditional LLMs risk generating unverified advice or generic responses during crisis moments.</a:t>
            </a:r>
          </a:p>
          <a:p>
            <a:pPr lvl="0"/>
            <a:r>
              <a:rPr lang="en-IN" sz="2000" b="1" dirty="0"/>
              <a:t>Clinically Grounded Retrieval:</a:t>
            </a:r>
            <a:r>
              <a:rPr lang="en-IN" sz="2000" dirty="0"/>
              <a:t> Uses </a:t>
            </a:r>
            <a:r>
              <a:rPr lang="en-IN" sz="2000" b="1" dirty="0"/>
              <a:t>IBM </a:t>
            </a:r>
            <a:r>
              <a:rPr lang="en-IN" sz="2000" b="1" dirty="0" err="1"/>
              <a:t>Langflow</a:t>
            </a:r>
            <a:r>
              <a:rPr lang="en-IN" sz="2000" dirty="0"/>
              <a:t> visual RAG pipelines connected to validated clinical frameworks (PHQ-9, GAD-7, Columbia-Suicide Severity Rating Scale) to ground every response in medically approved guidelines.</a:t>
            </a:r>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2C85A2C-81C6-6F24-0C8D-7BC3C9EFC4C3}"/>
              </a:ext>
            </a:extLst>
          </p:cNvPr>
          <p:cNvSpPr>
            <a:spLocks noGrp="1"/>
          </p:cNvSpPr>
          <p:nvPr>
            <p:ph type="body" idx="1"/>
          </p:nvPr>
        </p:nvSpPr>
        <p:spPr>
          <a:xfrm>
            <a:off x="838200" y="321944"/>
            <a:ext cx="10515600" cy="6393815"/>
          </a:xfrm>
        </p:spPr>
        <p:txBody>
          <a:bodyPr>
            <a:normAutofit fontScale="55000" lnSpcReduction="20000"/>
          </a:bodyPr>
          <a:lstStyle/>
          <a:p>
            <a:pPr marL="114300" indent="0">
              <a:buNone/>
            </a:pPr>
            <a:r>
              <a:rPr lang="en-IN" sz="3600" b="1" dirty="0">
                <a:latin typeface="+mn-lt"/>
              </a:rPr>
              <a:t>Deterministic Guardrails:</a:t>
            </a:r>
            <a:r>
              <a:rPr lang="en-IN" sz="3600" dirty="0">
                <a:latin typeface="+mn-lt"/>
              </a:rPr>
              <a:t> IBM Granite models enforce hard guardrails—if a suicide risk or severe self-harm signal is detected, generative output is constrained to pre-approved, empathetic crisis intervention pathways and human handoffs.</a:t>
            </a:r>
          </a:p>
          <a:p>
            <a:pPr marL="114300" indent="0">
              <a:buNone/>
            </a:pPr>
            <a:r>
              <a:rPr lang="en-IN" sz="3600" b="1" dirty="0">
                <a:latin typeface="+mn-lt"/>
              </a:rPr>
              <a:t>3. Longitudinal Predictive Prevention vs. Reactive Crisis Management</a:t>
            </a:r>
          </a:p>
          <a:p>
            <a:pPr marL="114300" indent="0">
              <a:buNone/>
            </a:pPr>
            <a:r>
              <a:rPr lang="en-IN" sz="3600" dirty="0">
                <a:latin typeface="+mn-lt"/>
              </a:rPr>
              <a:t>Most mental health tools only react when a user explicitly asks for help or types a keyword.</a:t>
            </a:r>
          </a:p>
          <a:p>
            <a:pPr marL="114300" lvl="0" indent="0">
              <a:buNone/>
            </a:pPr>
            <a:r>
              <a:rPr lang="en-IN" sz="3600" b="1" dirty="0">
                <a:latin typeface="+mn-lt"/>
              </a:rPr>
              <a:t>Pattern &amp; Trend Forecasting:</a:t>
            </a:r>
            <a:r>
              <a:rPr lang="en-IN" sz="3600" dirty="0">
                <a:latin typeface="+mn-lt"/>
              </a:rPr>
              <a:t> </a:t>
            </a:r>
            <a:r>
              <a:rPr lang="en-IN" sz="3600" dirty="0" err="1">
                <a:latin typeface="+mn-lt"/>
              </a:rPr>
              <a:t>Analyzes</a:t>
            </a:r>
            <a:r>
              <a:rPr lang="en-IN" sz="3600" dirty="0">
                <a:latin typeface="+mn-lt"/>
              </a:rPr>
              <a:t> multi-modal logs (journaling entries, voice tone shifts, check-in frequency) over time to identify subtle downward trends or stress build-ups </a:t>
            </a:r>
            <a:r>
              <a:rPr lang="en-IN" sz="3600" i="1" dirty="0">
                <a:latin typeface="+mn-lt"/>
              </a:rPr>
              <a:t>before</a:t>
            </a:r>
            <a:r>
              <a:rPr lang="en-IN" sz="3600" dirty="0">
                <a:latin typeface="+mn-lt"/>
              </a:rPr>
              <a:t> they reach a critical threshold.</a:t>
            </a:r>
          </a:p>
          <a:p>
            <a:pPr marL="114300" lvl="0" indent="0">
              <a:buNone/>
            </a:pPr>
            <a:r>
              <a:rPr lang="en-IN" sz="3600" b="1" dirty="0">
                <a:latin typeface="+mn-lt"/>
              </a:rPr>
              <a:t>Proactive Micro-Interventions:</a:t>
            </a:r>
            <a:r>
              <a:rPr lang="en-IN" sz="3600" dirty="0">
                <a:latin typeface="+mn-lt"/>
              </a:rPr>
              <a:t> Gently prompts users with personalized preventive strategies when elevated stress patterns are predicted, preventing acute escalation.</a:t>
            </a:r>
          </a:p>
          <a:p>
            <a:pPr marL="114300" indent="0">
              <a:buNone/>
            </a:pPr>
            <a:r>
              <a:rPr lang="en-IN" sz="3600" b="1" dirty="0">
                <a:latin typeface="+mn-lt"/>
              </a:rPr>
              <a:t>4. Multi-Modal Accessibility with Low Friction</a:t>
            </a:r>
          </a:p>
          <a:p>
            <a:pPr marL="114300" indent="0">
              <a:buNone/>
            </a:pPr>
            <a:r>
              <a:rPr lang="en-IN" sz="3600" dirty="0">
                <a:latin typeface="+mn-lt"/>
              </a:rPr>
              <a:t>Recognizing that individuals experiencing severe distress or depression often struggle with structured typing:</a:t>
            </a:r>
          </a:p>
          <a:p>
            <a:pPr marL="114300" lvl="0" indent="0">
              <a:buNone/>
            </a:pPr>
            <a:r>
              <a:rPr lang="en-IN" sz="3600" dirty="0">
                <a:latin typeface="+mn-lt"/>
              </a:rPr>
              <a:t>Accepts </a:t>
            </a:r>
            <a:r>
              <a:rPr lang="en-IN" sz="3600" b="1" dirty="0">
                <a:latin typeface="+mn-lt"/>
              </a:rPr>
              <a:t>text, voice-tone, and free-form daily journaling</a:t>
            </a:r>
            <a:r>
              <a:rPr lang="en-IN" sz="3600" dirty="0">
                <a:latin typeface="+mn-lt"/>
              </a:rPr>
              <a:t>.</a:t>
            </a:r>
          </a:p>
          <a:p>
            <a:pPr marL="114300" lvl="0" indent="0">
              <a:buNone/>
            </a:pPr>
            <a:r>
              <a:rPr lang="en-IN" sz="3600" dirty="0">
                <a:latin typeface="+mn-lt"/>
              </a:rPr>
              <a:t>Adapts communication style based on user preference, energy level, and cognitive load.</a:t>
            </a:r>
          </a:p>
          <a:p>
            <a:pPr marL="114300" indent="0">
              <a:buNone/>
            </a:pPr>
            <a:r>
              <a:rPr lang="en-IN" sz="3600" b="1" dirty="0">
                <a:latin typeface="+mn-lt"/>
              </a:rPr>
              <a:t>5. Enterprise-Grade Privacy &amp; Ethical Human-in-the-Loop (HITL)</a:t>
            </a:r>
          </a:p>
          <a:p>
            <a:pPr marL="114300" lvl="0" indent="0">
              <a:buNone/>
            </a:pPr>
            <a:r>
              <a:rPr lang="en-IN" sz="3600" b="1" dirty="0">
                <a:latin typeface="+mn-lt"/>
              </a:rPr>
              <a:t>Zero-Retention Enterprise Security:</a:t>
            </a:r>
            <a:r>
              <a:rPr lang="en-IN" sz="3600" dirty="0">
                <a:latin typeface="+mn-lt"/>
              </a:rPr>
              <a:t> Built on </a:t>
            </a:r>
            <a:r>
              <a:rPr lang="en-IN" sz="3600" b="1" dirty="0">
                <a:latin typeface="+mn-lt"/>
              </a:rPr>
              <a:t>IBM watsonx.ai</a:t>
            </a:r>
            <a:r>
              <a:rPr lang="en-IN" sz="3600" dirty="0">
                <a:latin typeface="+mn-lt"/>
              </a:rPr>
              <a:t> to ensure strict data privacy, HIPAA/GDPR alignment, and complete user anonymity for sensitive conversational data.</a:t>
            </a:r>
          </a:p>
          <a:p>
            <a:pPr marL="114300" lvl="0" indent="0">
              <a:buNone/>
            </a:pPr>
            <a:r>
              <a:rPr lang="en-IN" sz="3600" b="1" dirty="0">
                <a:latin typeface="+mn-lt"/>
              </a:rPr>
              <a:t>Seamless Crisis Handoff:</a:t>
            </a:r>
            <a:r>
              <a:rPr lang="en-IN" sz="3600" dirty="0">
                <a:latin typeface="+mn-lt"/>
              </a:rPr>
              <a:t> Integrates webhooks directly with local emergency crisis lines, </a:t>
            </a:r>
            <a:r>
              <a:rPr lang="en-IN" sz="3600" dirty="0" err="1">
                <a:latin typeface="+mn-lt"/>
              </a:rPr>
              <a:t>counseling</a:t>
            </a:r>
            <a:r>
              <a:rPr lang="en-IN" sz="3600" dirty="0">
                <a:latin typeface="+mn-lt"/>
              </a:rPr>
              <a:t> networks, and trusted contacts (with prior consent), bridging the gap between digital support and real-world human care.</a:t>
            </a:r>
          </a:p>
          <a:p>
            <a:endParaRPr lang="en-IN" dirty="0">
              <a:latin typeface="+mn-lt"/>
            </a:endParaRPr>
          </a:p>
        </p:txBody>
      </p:sp>
    </p:spTree>
    <p:extLst>
      <p:ext uri="{BB962C8B-B14F-4D97-AF65-F5344CB8AC3E}">
        <p14:creationId xmlns:p14="http://schemas.microsoft.com/office/powerpoint/2010/main" val="3454587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2000" dirty="0">
                <a:solidFill>
                  <a:srgbClr val="2B3541"/>
                </a:solidFill>
                <a:latin typeface="Times New Roman"/>
                <a:ea typeface="Times New Roman"/>
                <a:cs typeface="Times New Roman"/>
                <a:sym typeface="Times New Roman"/>
              </a:rPr>
              <a:t>https://github.com/shrenimahadik25-cpu/IBM-CERTIFICATE.git</a:t>
            </a:r>
            <a:endParaRPr sz="20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127284" y="1019111"/>
            <a:ext cx="9214580" cy="5838889"/>
          </a:xfrm>
          <a:prstGeom prst="rect">
            <a:avLst/>
          </a:prstGeom>
          <a:noFill/>
          <a:ln>
            <a:noFill/>
          </a:ln>
        </p:spPr>
        <p:txBody>
          <a:bodyPr spcFirstLastPara="1" wrap="square" lIns="0" tIns="0" rIns="0" bIns="0" anchor="t" anchorCtr="0">
            <a:noAutofit/>
          </a:bodyPr>
          <a:lstStyle/>
          <a:p>
            <a:r>
              <a:rPr lang="en-IN" sz="2000" b="1" dirty="0"/>
              <a:t>1. Integration with Wearables &amp; Health Devices</a:t>
            </a:r>
          </a:p>
          <a:p>
            <a:r>
              <a:rPr lang="en-IN" sz="2000" dirty="0"/>
              <a:t>The platform will connect with smartwatches, fitness trackers, and health monitors to </a:t>
            </a:r>
            <a:r>
              <a:rPr lang="en-IN" sz="2000" dirty="0" err="1"/>
              <a:t>analyze</a:t>
            </a:r>
            <a:r>
              <a:rPr lang="en-IN" sz="2000" dirty="0"/>
              <a:t> biometric markers (e.g., heart rate variability, sleep quality, skin conductance, physical activity).</a:t>
            </a:r>
          </a:p>
          <a:p>
            <a:pPr lvl="0"/>
            <a:r>
              <a:rPr lang="en-IN" sz="2000" b="1" dirty="0"/>
              <a:t>Physiological Stress Tracking:</a:t>
            </a:r>
            <a:r>
              <a:rPr lang="en-IN" sz="2000" dirty="0"/>
              <a:t> Correlates real-time biometric anomalies with user journaling to detect physiological stress spikes before emotional burnout occurs.</a:t>
            </a:r>
          </a:p>
          <a:p>
            <a:pPr lvl="0"/>
            <a:r>
              <a:rPr lang="en-IN" sz="2000" b="1" dirty="0"/>
              <a:t>Proactive Micro-Interventions:</a:t>
            </a:r>
            <a:r>
              <a:rPr lang="en-IN" sz="2000" dirty="0"/>
              <a:t> Automatically prompts users with grounded breathing exercises or calming micro-content when elevated resting heart rates or disturbed sleep trends indicate heightening anxiety.</a:t>
            </a:r>
          </a:p>
          <a:p>
            <a:r>
              <a:rPr lang="en-IN" sz="2000" b="1" dirty="0"/>
              <a:t>2. AI-Powered Voice Assistant &amp; Multilingual Support</a:t>
            </a:r>
          </a:p>
          <a:p>
            <a:r>
              <a:rPr lang="en-IN" sz="2000" dirty="0"/>
              <a:t>To dismantle barriers in crisis management, the agent will offer voice-first interaction and multilingual capabilities via </a:t>
            </a:r>
            <a:r>
              <a:rPr lang="en-IN" sz="2000" b="1" dirty="0"/>
              <a:t>IBM Granite Speech &amp; Multilingual models</a:t>
            </a:r>
            <a:r>
              <a:rPr lang="en-IN" sz="2000" dirty="0"/>
              <a:t> and </a:t>
            </a:r>
            <a:r>
              <a:rPr lang="en-IN" sz="2000" b="1" dirty="0"/>
              <a:t>IBM </a:t>
            </a:r>
            <a:r>
              <a:rPr lang="en-IN" sz="2000" b="1" dirty="0" err="1"/>
              <a:t>Langflow</a:t>
            </a:r>
            <a:r>
              <a:rPr lang="en-IN" sz="2000" dirty="0"/>
              <a:t>.</a:t>
            </a:r>
          </a:p>
          <a:p>
            <a:pPr lvl="0"/>
            <a:r>
              <a:rPr lang="en-IN" sz="2000" b="1" dirty="0"/>
              <a:t>Voice-First Interaction:</a:t>
            </a:r>
            <a:r>
              <a:rPr lang="en-IN" sz="2000" dirty="0"/>
              <a:t> Enables hands-free, natural conversational engagement for users experiencing cognitive fatigue, severe depression, or acute distress.</a:t>
            </a:r>
          </a:p>
          <a:p>
            <a:pPr lvl="0"/>
            <a:r>
              <a:rPr lang="en-IN" sz="2000" b="1" dirty="0"/>
              <a:t>Linguistic Inclusivity:</a:t>
            </a:r>
            <a:r>
              <a:rPr lang="en-IN" sz="2000" dirty="0"/>
              <a:t> Supports multi-dialect translation and culturally nuanced empathetic responses, ensuring crucial crisis resources and support are accessible across diverse populations and regions.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 :</a:t>
            </a:r>
          </a:p>
          <a:p>
            <a:pPr algn="ctr"/>
            <a:endParaRPr lang="en-US" dirty="0"/>
          </a:p>
        </p:txBody>
      </p:sp>
      <p:pic>
        <p:nvPicPr>
          <p:cNvPr id="8" name="Picture 7">
            <a:extLst>
              <a:ext uri="{FF2B5EF4-FFF2-40B4-BE49-F238E27FC236}">
                <a16:creationId xmlns:a16="http://schemas.microsoft.com/office/drawing/2014/main" id="{D50E1F4E-8C14-35FF-1A96-ED781B598966}"/>
              </a:ext>
            </a:extLst>
          </p:cNvPr>
          <p:cNvPicPr>
            <a:picLocks noChangeAspect="1"/>
          </p:cNvPicPr>
          <p:nvPr/>
        </p:nvPicPr>
        <p:blipFill>
          <a:blip r:embed="rId2"/>
          <a:stretch>
            <a:fillRect/>
          </a:stretch>
        </p:blipFill>
        <p:spPr>
          <a:xfrm>
            <a:off x="2055803" y="1012953"/>
            <a:ext cx="7552074" cy="5845047"/>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mj-lt"/>
              </a:rPr>
              <a:t>Certificates Earned :</a:t>
            </a:r>
            <a:r>
              <a:rPr sz="2800" b="0" i="0" dirty="0">
                <a:solidFill>
                  <a:srgbClr val="000000"/>
                </a:solidFill>
                <a:latin typeface="+mj-lt"/>
                <a:ea typeface="Arial"/>
                <a:cs typeface="Arial"/>
              </a:rPr>
              <a:t>​</a:t>
            </a:r>
            <a:endParaRPr lang="en-US" sz="2800" dirty="0">
              <a:latin typeface="+mj-lt"/>
            </a:endParaRPr>
          </a:p>
          <a:p>
            <a:pPr algn="ctr"/>
            <a:endParaRPr lang="en-US" dirty="0"/>
          </a:p>
        </p:txBody>
      </p:sp>
      <p:pic>
        <p:nvPicPr>
          <p:cNvPr id="3" name="Picture 2">
            <a:extLst>
              <a:ext uri="{FF2B5EF4-FFF2-40B4-BE49-F238E27FC236}">
                <a16:creationId xmlns:a16="http://schemas.microsoft.com/office/drawing/2014/main" id="{8F3BAE28-92FE-5DAD-CA2E-2513778C704E}"/>
              </a:ext>
            </a:extLst>
          </p:cNvPr>
          <p:cNvPicPr>
            <a:picLocks noChangeAspect="1"/>
          </p:cNvPicPr>
          <p:nvPr/>
        </p:nvPicPr>
        <p:blipFill>
          <a:blip r:embed="rId2"/>
          <a:stretch>
            <a:fillRect/>
          </a:stretch>
        </p:blipFill>
        <p:spPr>
          <a:xfrm>
            <a:off x="2228515" y="704614"/>
            <a:ext cx="7734970" cy="5448772"/>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524</TotalTime>
  <Words>1777</Words>
  <Application>Microsoft Office PowerPoint</Application>
  <PresentationFormat>Widescreen</PresentationFormat>
  <Paragraphs>145</Paragraphs>
  <Slides>23</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shivamsirsath582@outlook.com</cp:lastModifiedBy>
  <cp:revision>6</cp:revision>
  <cp:lastPrinted>2026-08-04T19:19:33Z</cp:lastPrinted>
  <dcterms:created xsi:type="dcterms:W3CDTF">2025-07-08T05:06:56Z</dcterms:created>
  <dcterms:modified xsi:type="dcterms:W3CDTF">2026-08-05T07:48:50Z</dcterms:modified>
</cp:coreProperties>
</file>